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Comfortaa SemiBold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Proxima Nova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Comfortaa Medium"/>
      <p:regular r:id="rId35"/>
      <p:bold r:id="rId36"/>
    </p:embeddedFont>
    <p:embeddedFont>
      <p:font typeface="Comforta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C60FE4-8C68-4227-82AC-F92F0D809B65}">
  <a:tblStyle styleId="{11C60FE4-8C68-4227-82AC-F92F0D809B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omfortaaSemiBold-bold.fntdata"/><Relationship Id="rId21" Type="http://schemas.openxmlformats.org/officeDocument/2006/relationships/font" Target="fonts/ComfortaaSemiBold-regular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ProximaNova-bold.fntdata"/><Relationship Id="rId27" Type="http://schemas.openxmlformats.org/officeDocument/2006/relationships/font" Target="fonts/ProximaNov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regular.fntdata"/><Relationship Id="rId30" Type="http://schemas.openxmlformats.org/officeDocument/2006/relationships/font" Target="fonts/ProximaNova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7.xml"/><Relationship Id="rId35" Type="http://schemas.openxmlformats.org/officeDocument/2006/relationships/font" Target="fonts/ComfortaaMedium-regular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Comfortaa-regular.fntdata"/><Relationship Id="rId14" Type="http://schemas.openxmlformats.org/officeDocument/2006/relationships/slide" Target="slides/slide8.xml"/><Relationship Id="rId36" Type="http://schemas.openxmlformats.org/officeDocument/2006/relationships/font" Target="fonts/Comfortaa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Comforta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fad83c0ad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fad83c0ad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ae1268a6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ae1268a6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ad83c0ad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fad83c0ad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fae1268a65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fae1268a65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b544259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fb544259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b544259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fb544259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fb544259e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fb544259e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004fcb70d4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004fcb70d4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04fcb70d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004fcb70d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04fcb70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004fcb70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04fcb70d4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004fcb70d4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004fcb70d4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004fcb70d4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395cb06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395cb06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6.xml"/><Relationship Id="rId4" Type="http://schemas.openxmlformats.org/officeDocument/2006/relationships/hyperlink" Target="https://www.github.com/tebbaa-adnane/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figma.com/file/RtvUQW03856wg4GFiyGPaV/Conception?node-id=0%3A1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49075" y="4893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latin typeface="Comfortaa"/>
                <a:ea typeface="Comfortaa"/>
                <a:cs typeface="Comfortaa"/>
                <a:sym typeface="Comfortaa"/>
              </a:rPr>
              <a:t>Projet 2 - Page Contact :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40913" y="17239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7225" y="2737075"/>
            <a:ext cx="6135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Réalisé</a:t>
            </a:r>
            <a:r>
              <a:rPr b="1" lang="fr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par :</a:t>
            </a:r>
            <a:endParaRPr b="1" sz="2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Reda Hammada</a:t>
            </a:r>
            <a:endParaRPr sz="2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lharrak botaina</a:t>
            </a:r>
            <a:endParaRPr sz="2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Riyadi Mohamed Anass</a:t>
            </a:r>
            <a:endParaRPr sz="2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Adnane Tebbaa</a:t>
            </a:r>
            <a:endParaRPr sz="2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Yassemine Ben Issa</a:t>
            </a:r>
            <a:endParaRPr sz="22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4025" y="2856450"/>
            <a:ext cx="249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Encadrement : </a:t>
            </a:r>
            <a:r>
              <a:rPr b="1" lang="fr" sz="2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Essarraj</a:t>
            </a:r>
            <a:r>
              <a:rPr b="1" lang="fr" sz="2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Fouad</a:t>
            </a:r>
            <a:endParaRPr b="1" sz="2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latin typeface="Comfortaa"/>
                <a:ea typeface="Comfortaa"/>
                <a:cs typeface="Comfortaa"/>
                <a:sym typeface="Comfortaa"/>
              </a:rPr>
              <a:t>Besoin :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fortaa"/>
              <a:buChar char="-"/>
            </a:pPr>
            <a:r>
              <a:rPr b="1" lang="fr" sz="28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Réalisation d’une page contact</a:t>
            </a:r>
            <a:endParaRPr b="1" sz="28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875" y="855353"/>
            <a:ext cx="6904024" cy="36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311700" y="1611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latin typeface="Comfortaa"/>
                <a:ea typeface="Comfortaa"/>
                <a:cs typeface="Comfortaa"/>
                <a:sym typeface="Comfortaa"/>
              </a:rPr>
              <a:t>Analyse technique  :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0" y="692725"/>
            <a:ext cx="9144000" cy="40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 -Html:             </a:t>
            </a: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-sémantique des balises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                      -structure d’une page web 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			     - formulaire 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-validation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B -Css :               -menu position sticky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	             -position avec flex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              </a:t>
            </a: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- les icônes 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       -style, list, menu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       -pseudo class ; hover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C -maquette : - </a:t>
            </a: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réalise</a:t>
            </a: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une exemple en figma 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6515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    </a:t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515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-"/>
            </a:pPr>
            <a:r>
              <a:rPr b="1" lang="fr">
                <a:latin typeface="Comfortaa"/>
                <a:ea typeface="Comfortaa"/>
                <a:cs typeface="Comfortaa"/>
                <a:sym typeface="Comfortaa"/>
              </a:rPr>
              <a:t>distribution des</a:t>
            </a:r>
            <a:r>
              <a:rPr b="1" lang="fr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fr">
                <a:latin typeface="Comfortaa"/>
                <a:ea typeface="Comfortaa"/>
                <a:cs typeface="Comfortaa"/>
                <a:sym typeface="Comfortaa"/>
              </a:rPr>
              <a:t>tâches: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fr"/>
              <a:t>tâche C : Yassemine.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fr"/>
              <a:t>tâche B : Botaina.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fr"/>
              <a:t>tâche E : Anas.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fr"/>
              <a:t>tâche D : Reda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fr"/>
              <a:t>tâche A : Adnane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0" y="0"/>
            <a:ext cx="91440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 Medium"/>
              <a:buChar char="-"/>
            </a:pPr>
            <a:r>
              <a:rPr lang="fr">
                <a:latin typeface="Comfortaa Medium"/>
                <a:ea typeface="Comfortaa Medium"/>
                <a:cs typeface="Comfortaa Medium"/>
                <a:sym typeface="Comfortaa Medium"/>
              </a:rPr>
              <a:t>Gestion de temps :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810525" y="724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{11C60FE4-8C68-4227-82AC-F92F0D809B65}</a:tableStyleId>
              </a:tblPr>
              <a:tblGrid>
                <a:gridCol w="1816975"/>
                <a:gridCol w="1816975"/>
                <a:gridCol w="1816975"/>
                <a:gridCol w="2072025"/>
              </a:tblGrid>
              <a:tr h="66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lundi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  ✅ D</a:t>
                      </a:r>
                      <a:r>
                        <a:rPr lang="fr" sz="1350">
                          <a:solidFill>
                            <a:srgbClr val="040404"/>
                          </a:solidFill>
                          <a:highlight>
                            <a:srgbClr val="FFFFFF"/>
                          </a:highlight>
                        </a:rPr>
                        <a:t>émarrage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Analyse technique.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Autoformation.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mardi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A</a:t>
                      </a:r>
                      <a:r>
                        <a:rPr lang="fr"/>
                        <a:t>utoformation.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A</a:t>
                      </a:r>
                      <a:r>
                        <a:rPr lang="fr"/>
                        <a:t>utoformation.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A</a:t>
                      </a:r>
                      <a:r>
                        <a:rPr lang="fr"/>
                        <a:t>utoformation.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mercredi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éalisation d’un prototype.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éalisation d’un prototype.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</a:t>
                      </a:r>
                      <a:r>
                        <a:rPr lang="fr">
                          <a:solidFill>
                            <a:srgbClr val="0000FF"/>
                          </a:solidFill>
                        </a:rPr>
                        <a:t>P</a:t>
                      </a:r>
                      <a:r>
                        <a:rPr lang="fr">
                          <a:solidFill>
                            <a:srgbClr val="0000FF"/>
                          </a:solidFill>
                        </a:rPr>
                        <a:t>résentation</a:t>
                      </a:r>
                      <a:r>
                        <a:rPr lang="fr">
                          <a:solidFill>
                            <a:srgbClr val="0000FF"/>
                          </a:solidFill>
                        </a:rPr>
                        <a:t> de prototype.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jeudi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✅ Apprentissage du Prototype.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</a:t>
                      </a:r>
                      <a:r>
                        <a:rPr lang="fr"/>
                        <a:t>éalisation.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</a:t>
                      </a:r>
                      <a:r>
                        <a:rPr lang="fr"/>
                        <a:t>éalisation.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vendredi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</a:t>
                      </a:r>
                      <a:r>
                        <a:rPr lang="fr"/>
                        <a:t>éalisation du projet.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</a:t>
                      </a:r>
                      <a:r>
                        <a:rPr lang="fr"/>
                        <a:t>éalisation</a:t>
                      </a:r>
                      <a:r>
                        <a:rPr lang="fr"/>
                        <a:t> du projet.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0000FF"/>
                          </a:solidFill>
                        </a:rPr>
                        <a:t>P</a:t>
                      </a:r>
                      <a:r>
                        <a:rPr lang="fr">
                          <a:solidFill>
                            <a:srgbClr val="0000FF"/>
                          </a:solidFill>
                        </a:rPr>
                        <a:t>résentation</a:t>
                      </a:r>
                      <a:r>
                        <a:rPr lang="fr">
                          <a:solidFill>
                            <a:srgbClr val="0000FF"/>
                          </a:solidFill>
                        </a:rPr>
                        <a:t> du projet.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0"/>
            <a:ext cx="85206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63"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Sémantique des balises : </a:t>
            </a:r>
            <a:r>
              <a:rPr b="1" lang="fr" sz="3163">
                <a:solidFill>
                  <a:srgbClr val="FF0000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1</a:t>
            </a:r>
            <a:r>
              <a:rPr b="1" lang="fr" sz="3163"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/3</a:t>
            </a:r>
            <a:endParaRPr b="1" sz="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b="1" sz="3163"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0" y="1248575"/>
            <a:ext cx="9144000" cy="3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800"/>
              <a:buFont typeface="Comfortaa"/>
              <a:buChar char="-"/>
            </a:pPr>
            <a:r>
              <a:rPr b="1" lang="fr">
                <a:solidFill>
                  <a:srgbClr val="040404"/>
                </a:solidFill>
                <a:latin typeface="Comfortaa"/>
                <a:ea typeface="Comfortaa"/>
                <a:cs typeface="Comfortaa"/>
                <a:sym typeface="Comfortaa"/>
              </a:rPr>
              <a:t>Un élément sémantique décrit clairement sa signification pour le navigateur et le développeur.</a:t>
            </a:r>
            <a:endParaRPr b="1">
              <a:solidFill>
                <a:srgbClr val="040404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-"/>
            </a:pPr>
            <a:r>
              <a:rPr b="1" lang="fr">
                <a:solidFill>
                  <a:srgbClr val="040404"/>
                </a:solidFill>
                <a:latin typeface="Comfortaa"/>
                <a:ea typeface="Comfortaa"/>
                <a:cs typeface="Comfortaa"/>
                <a:sym typeface="Comfortaa"/>
              </a:rPr>
              <a:t>Exemples d'éléments non sémantiques</a:t>
            </a:r>
            <a:r>
              <a:rPr lang="fr">
                <a:solidFill>
                  <a:srgbClr val="040404"/>
                </a:solidFill>
                <a:latin typeface="Roboto Medium"/>
                <a:ea typeface="Roboto Medium"/>
                <a:cs typeface="Roboto Medium"/>
                <a:sym typeface="Roboto Medium"/>
              </a:rPr>
              <a:t> : </a:t>
            </a:r>
            <a:r>
              <a:rPr b="1" lang="fr">
                <a:solidFill>
                  <a:srgbClr val="007700"/>
                </a:solidFill>
              </a:rPr>
              <a:t>&lt;div&gt;</a:t>
            </a:r>
            <a:r>
              <a:rPr lang="fr">
                <a:solidFill>
                  <a:srgbClr val="0077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fr">
                <a:solidFill>
                  <a:srgbClr val="040404"/>
                </a:solidFill>
                <a:latin typeface="Roboto Medium"/>
                <a:ea typeface="Roboto Medium"/>
                <a:cs typeface="Roboto Medium"/>
                <a:sym typeface="Roboto Medium"/>
              </a:rPr>
              <a:t>et </a:t>
            </a:r>
            <a:r>
              <a:rPr b="1" lang="fr">
                <a:solidFill>
                  <a:srgbClr val="007700"/>
                </a:solidFill>
              </a:rPr>
              <a:t>&lt;span&gt;</a:t>
            </a:r>
            <a:r>
              <a:rPr lang="fr">
                <a:solidFill>
                  <a:srgbClr val="040404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fr">
                <a:solidFill>
                  <a:srgbClr val="040404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Ne dit rien de son contenu.</a:t>
            </a:r>
            <a:endParaRPr>
              <a:solidFill>
                <a:srgbClr val="040404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-"/>
            </a:pPr>
            <a:r>
              <a:rPr b="1" lang="fr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Exemples d'éléments sémantiques </a:t>
            </a:r>
            <a:r>
              <a:rPr lang="fr">
                <a:solidFill>
                  <a:srgbClr val="000000"/>
                </a:solidFill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:  </a:t>
            </a:r>
            <a:r>
              <a:rPr b="1" lang="fr" sz="1600">
                <a:solidFill>
                  <a:srgbClr val="007700"/>
                </a:solidFill>
              </a:rPr>
              <a:t>&lt;form&gt;</a:t>
            </a:r>
            <a:r>
              <a:rPr lang="fr" sz="1600">
                <a:solidFill>
                  <a:srgbClr val="040404"/>
                </a:solidFill>
                <a:latin typeface="Roboto Medium"/>
                <a:ea typeface="Roboto Medium"/>
                <a:cs typeface="Roboto Medium"/>
                <a:sym typeface="Roboto Medium"/>
              </a:rPr>
              <a:t> &amp;</a:t>
            </a:r>
            <a:r>
              <a:rPr b="1" lang="fr" sz="1600">
                <a:solidFill>
                  <a:srgbClr val="333333"/>
                </a:solidFill>
              </a:rPr>
              <a:t> </a:t>
            </a:r>
            <a:r>
              <a:rPr b="1" lang="fr" sz="1600">
                <a:solidFill>
                  <a:srgbClr val="007700"/>
                </a:solidFill>
              </a:rPr>
              <a:t>&lt;table&gt;</a:t>
            </a:r>
            <a:r>
              <a:rPr lang="fr" sz="1600">
                <a:solidFill>
                  <a:srgbClr val="333333"/>
                </a:solidFill>
                <a:latin typeface="Roboto Medium"/>
                <a:ea typeface="Roboto Medium"/>
                <a:cs typeface="Roboto Medium"/>
                <a:sym typeface="Roboto Medium"/>
              </a:rPr>
              <a:t> et</a:t>
            </a:r>
            <a:r>
              <a:rPr b="1" lang="fr" sz="1600">
                <a:solidFill>
                  <a:srgbClr val="333333"/>
                </a:solidFill>
              </a:rPr>
              <a:t> </a:t>
            </a:r>
            <a:r>
              <a:rPr b="1" lang="fr" sz="1600">
                <a:solidFill>
                  <a:srgbClr val="007700"/>
                </a:solidFill>
              </a:rPr>
              <a:t>&lt;article&gt;</a:t>
            </a:r>
            <a:r>
              <a:rPr b="1" lang="fr" sz="1600">
                <a:solidFill>
                  <a:srgbClr val="007700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fr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Définit clairement son contenu.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0"/>
            <a:ext cx="85206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1291"/>
              <a:buFont typeface="Arial"/>
              <a:buNone/>
            </a:pPr>
            <a:r>
              <a:rPr b="1" lang="fr" sz="3163"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Sémantique des balises : </a:t>
            </a:r>
            <a:r>
              <a:rPr b="1" lang="fr" sz="3163">
                <a:solidFill>
                  <a:srgbClr val="FF0000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2</a:t>
            </a:r>
            <a:r>
              <a:rPr b="1" lang="fr" sz="3163"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/3</a:t>
            </a:r>
            <a:endParaRPr b="1" sz="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0" y="930275"/>
            <a:ext cx="91440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7700"/>
                </a:solidFill>
              </a:rPr>
              <a:t>&lt;section&gt;</a:t>
            </a:r>
            <a:r>
              <a:rPr lang="fr">
                <a:solidFill>
                  <a:srgbClr val="007700"/>
                </a:solidFill>
              </a:rPr>
              <a:t> </a:t>
            </a:r>
            <a:r>
              <a:rPr b="1" lang="fr">
                <a:solidFill>
                  <a:srgbClr val="007700"/>
                </a:solidFill>
              </a:rPr>
              <a:t>:</a:t>
            </a:r>
            <a:r>
              <a:rPr lang="fr">
                <a:solidFill>
                  <a:srgbClr val="007700"/>
                </a:solidFill>
              </a:rPr>
              <a:t> </a:t>
            </a:r>
            <a:r>
              <a:rPr b="1" lang="fr" sz="155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l'élément définit u</a:t>
            </a:r>
            <a:r>
              <a:rPr b="1" lang="fr" sz="155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ne section dans un document.</a:t>
            </a:r>
            <a:endParaRPr b="1" sz="155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850">
                <a:solidFill>
                  <a:srgbClr val="007700"/>
                </a:solidFill>
                <a:highlight>
                  <a:srgbClr val="FFFFFF"/>
                </a:highlight>
              </a:rPr>
              <a:t>&lt;article&gt; : </a:t>
            </a:r>
            <a:r>
              <a:rPr b="1" lang="fr" sz="1550">
                <a:solidFill>
                  <a:srgbClr val="040404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l'élément </a:t>
            </a:r>
            <a:r>
              <a:rPr b="1" lang="fr" sz="1550">
                <a:solidFill>
                  <a:srgbClr val="040404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spécifié</a:t>
            </a:r>
            <a:r>
              <a:rPr b="1" lang="fr" sz="1550">
                <a:solidFill>
                  <a:srgbClr val="040404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un contenu indépendant. </a:t>
            </a:r>
            <a:endParaRPr b="1" sz="2050">
              <a:solidFill>
                <a:srgbClr val="0077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750">
                <a:solidFill>
                  <a:srgbClr val="007700"/>
                </a:solidFill>
                <a:highlight>
                  <a:srgbClr val="FFFFFF"/>
                </a:highlight>
              </a:rPr>
              <a:t>&lt;header</a:t>
            </a:r>
            <a:r>
              <a:rPr b="1" lang="fr" sz="1750">
                <a:solidFill>
                  <a:srgbClr val="007700"/>
                </a:solidFill>
                <a:highlight>
                  <a:srgbClr val="FFFFFF"/>
                </a:highlight>
              </a:rPr>
              <a:t>&gt;</a:t>
            </a:r>
            <a:r>
              <a:rPr b="1" lang="fr" sz="1750">
                <a:solidFill>
                  <a:srgbClr val="007700"/>
                </a:solidFill>
                <a:highlight>
                  <a:srgbClr val="FFFFFF"/>
                </a:highlight>
              </a:rPr>
              <a:t>  : </a:t>
            </a:r>
            <a:r>
              <a:rPr b="1" lang="fr" sz="1550">
                <a:solidFill>
                  <a:srgbClr val="040404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l'élément représente un conteneur pour le contenu d'introduction ou un ensemble de liens de navigation.</a:t>
            </a:r>
            <a:endParaRPr b="1" sz="1550">
              <a:solidFill>
                <a:srgbClr val="040404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750">
                <a:solidFill>
                  <a:srgbClr val="007700"/>
                </a:solidFill>
                <a:highlight>
                  <a:srgbClr val="FFFFFF"/>
                </a:highlight>
              </a:rPr>
              <a:t>&lt;footer&gt; : </a:t>
            </a:r>
            <a:r>
              <a:rPr b="1" lang="fr" sz="1550">
                <a:solidFill>
                  <a:srgbClr val="040404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l'élément définit un pied de page pour un document ou une section</a:t>
            </a:r>
            <a:endParaRPr b="1" sz="1550">
              <a:solidFill>
                <a:srgbClr val="040404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750">
                <a:solidFill>
                  <a:srgbClr val="007700"/>
                </a:solidFill>
                <a:highlight>
                  <a:srgbClr val="FFFFFF"/>
                </a:highlight>
              </a:rPr>
              <a:t>&lt;nav&gt; :</a:t>
            </a:r>
            <a:r>
              <a:rPr b="1" lang="fr" sz="1550">
                <a:solidFill>
                  <a:srgbClr val="040404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l'élément définit un ensemble de liens de navigation</a:t>
            </a:r>
            <a:endParaRPr b="1" sz="1550">
              <a:solidFill>
                <a:srgbClr val="040404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0" y="0"/>
            <a:ext cx="91440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63"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Sémantique des balises : </a:t>
            </a:r>
            <a:r>
              <a:rPr b="1" lang="fr" sz="3163">
                <a:solidFill>
                  <a:srgbClr val="FF0000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3</a:t>
            </a:r>
            <a:r>
              <a:rPr b="1" lang="fr" sz="3163"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/3</a:t>
            </a:r>
            <a:endParaRPr b="1" sz="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400825" y="892075"/>
            <a:ext cx="8520600" cy="23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Voir Les Reference :</a:t>
            </a:r>
            <a:r>
              <a:rPr lang="fr"/>
              <a:t> </a:t>
            </a:r>
            <a:r>
              <a:rPr lang="fr" u="sng">
                <a:solidFill>
                  <a:schemeClr val="hlink"/>
                </a:solidFill>
                <a:hlinkClick action="ppaction://hlinksldjump" r:id="rId3"/>
              </a:rPr>
              <a:t>https://www.github.com/tebbaa-adnane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Github :</a:t>
            </a:r>
            <a:r>
              <a:rPr lang="fr"/>
              <a:t> </a:t>
            </a:r>
            <a:r>
              <a:rPr lang="fr" u="sng">
                <a:solidFill>
                  <a:schemeClr val="hlink"/>
                </a:solidFill>
                <a:hlinkClick r:id="rId4"/>
              </a:rPr>
              <a:t>https://www.github.com/tebbaa-adnane/HTML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Live Coding </a:t>
            </a:r>
            <a:r>
              <a:rPr b="1" lang="fr">
                <a:solidFill>
                  <a:schemeClr val="dk1"/>
                </a:solidFill>
              </a:rPr>
              <a:t>Demo.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76775"/>
            <a:ext cx="3711000" cy="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conception</a:t>
            </a:r>
            <a:r>
              <a:rPr lang="fr"/>
              <a:t> de group :</a:t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700" y="152400"/>
            <a:ext cx="4237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325" y="199100"/>
            <a:ext cx="3801700" cy="461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/>
        </p:nvSpPr>
        <p:spPr>
          <a:xfrm>
            <a:off x="215700" y="497775"/>
            <a:ext cx="20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Lharrak botaina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Reda Hammada Conception :</a:t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147" y="0"/>
            <a:ext cx="41038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127450" y="102925"/>
            <a:ext cx="42603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Yassemine conception:</a:t>
            </a:r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650" y="102925"/>
            <a:ext cx="4380325" cy="47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0" y="79025"/>
            <a:ext cx="9037200" cy="3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700">
                <a:solidFill>
                  <a:srgbClr val="040404"/>
                </a:solidFill>
              </a:rPr>
              <a:t>Conception Adnane Tebbaa : </a:t>
            </a:r>
            <a:endParaRPr b="1" sz="2700">
              <a:solidFill>
                <a:srgbClr val="04040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                             </a:t>
            </a:r>
            <a:r>
              <a:rPr b="1" lang="fr" sz="3800">
                <a:solidFill>
                  <a:srgbClr val="000000"/>
                </a:solidFill>
              </a:rPr>
              <a:t>Conception sur</a:t>
            </a:r>
            <a:r>
              <a:rPr lang="fr" sz="3800"/>
              <a:t>  </a:t>
            </a:r>
            <a:r>
              <a:rPr b="1" lang="fr" sz="3800" u="sng">
                <a:solidFill>
                  <a:schemeClr val="hlink"/>
                </a:solidFill>
                <a:hlinkClick r:id="rId3"/>
              </a:rPr>
              <a:t>figma</a:t>
            </a:r>
            <a:endParaRPr b="1" sz="3800" u="sn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